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6" y="7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83363-DDD3-49A5-8817-CFD53FBCA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3E0776-9A7B-C807-230E-5331A3620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61E14-9397-3588-6BAA-8E50BB123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D6B7A-F440-2626-E242-10D5CE9B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77FE17-6E37-19A9-32A6-A74F71C9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85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27F5A-1551-584B-4B39-9806388B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E034E0-DB5E-147B-8C93-81896F61C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4A0724-B5BD-A769-FE62-4166D825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754E21-D62E-9396-CF7D-735C3169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94AAF5-8366-457C-75EE-9D97AA36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718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7D982-C0B5-9EE4-D0FE-E271A4879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802359-A3C3-C716-FC88-3FA9EF980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F19C91-F9CE-766C-3A3B-ECF3EB27B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260948-0B24-DCBB-B49C-A314C830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E290C-5C38-F256-477C-6984CC55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34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428D6-5543-1D7D-2558-3E124445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6C9F48-71B9-A17E-E252-28130AE9B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F02739-47B1-B3AA-8781-07B299DEC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E8F2D5-EC75-AE57-928D-1458E89D8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581927-BEC2-FCA5-CDE4-70A2F4ED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71C2D3-5360-9D3B-5A51-ECABCD14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31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7F9C5-5683-9F3F-BC83-A7B8A407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CAE9C4-BD2D-015D-B95E-495C5B278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9014C2-C059-A727-7AFC-E43C692ED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CC6BE7-9C92-E801-C7AA-B3FD06FC2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5289F0-0702-5238-876C-861404D26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207B3B-92B8-10C9-20C1-D14C902C0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737AC7-CBD9-490B-B748-9681A739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03B4CC-96CE-97F5-2C6F-7E2ABA9E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91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758ED-E1D0-6B56-9AD5-56E907E7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C3971A-8E3A-3ECE-0CC5-9B905573A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0B5D00-27B1-456A-32E7-5C9717FB5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03016A-9056-2EFF-31F0-FA768D61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204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9F24F46-FC36-DCBF-4C8D-EF152FC3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150C41-A87E-1F1E-CD28-32FD83DF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8AB01F-AA22-6A7B-9DCE-221B0B4D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63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2B9D4-9EE7-A9DD-F8C4-62E856AE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5F7621-64CA-C4CB-030D-BE0E21C46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17A2DF-B04D-16C8-8732-901CAC714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931FEF-839D-EC82-64FE-A7AB9467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37BE7A-1C1B-1DDD-C8EB-30EFD1D4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12C616-7997-C83A-821A-7F3E6C070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21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0F2A9-C06F-2DE4-0499-22E873E4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59605A-7B55-51C7-67CD-C01FC099B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7F5EC8-6514-3AB5-8D74-F99EE1309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A969E6-0A09-2FB5-C7C3-3605361C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196551-8880-1041-C231-07D1E782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C9EE4-A244-0C05-1333-861B4C93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0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EC2064-1EF2-207E-6EB0-2AE4271D4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2329E1-7DB4-5962-4FB1-C1D45DFF9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865C85-393A-6BF2-0247-95D095285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57A36-1E51-F903-E1A4-CABBF8F2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4AB0FD-625C-E729-FA75-48BF4C78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8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0E7EFC-9E23-FC1E-6D09-15CFC2316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C2CB1B-4EDE-F1E1-5DD5-8819E0650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CF4F8C-8BE7-D00F-02C7-28CEA0FF3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A9F8-65EA-099B-D9BB-E36D6CA4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6E5F2-FBFB-437F-590E-B13672C2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38458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DF3A9-12C4-AF10-E1AB-7B6126FC1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EB2DC8-0F8B-5389-CDAE-1DAFCC387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93FECD-1884-1CCD-97CA-103839797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BE68C-46FC-46F3-A517-A7AEF55AD47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410FA4-8DC1-CDA4-BFBB-0ABB2B2FE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FA715-A36C-DA01-FFE4-42B39C390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ABC41-AF5D-4E65-AC29-EF6459F87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57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1464-D55A-3A9C-C50C-365096EA8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3C918-B6E8-1487-9AF5-FACCD52F57D2}"/>
              </a:ext>
            </a:extLst>
          </p:cNvPr>
          <p:cNvSpPr txBox="1"/>
          <p:nvPr/>
        </p:nvSpPr>
        <p:spPr>
          <a:xfrm>
            <a:off x="0" y="0"/>
            <a:ext cx="12192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조사이유</a:t>
            </a:r>
          </a:p>
          <a:p>
            <a:r>
              <a:rPr lang="ko-KR" altLang="en-US" sz="1000" dirty="0"/>
              <a:t>상위 사용이 많은 곳에 인구를 조사하여 전체 우대권사용자의 비율을 산출하고, 그 수 만큼 움직이지 않으면 지역구의 활성화와 이동의 분산으로 인해 불필요한 이동이 되지 않을 것으로 판다.</a:t>
            </a:r>
          </a:p>
          <a:p>
            <a:endParaRPr lang="ko-KR" altLang="en-US" sz="1000" dirty="0"/>
          </a:p>
          <a:p>
            <a:r>
              <a:rPr lang="ko-KR" altLang="en-US" sz="1000" dirty="0"/>
              <a:t>예상 결과</a:t>
            </a:r>
          </a:p>
          <a:p>
            <a:r>
              <a:rPr lang="ko-KR" altLang="en-US" sz="1000" dirty="0"/>
              <a:t>제일 많이 이용하는 곳이 </a:t>
            </a:r>
            <a:r>
              <a:rPr lang="ko-KR" altLang="en-US" sz="1000" dirty="0" err="1"/>
              <a:t>탑골</a:t>
            </a:r>
            <a:r>
              <a:rPr lang="ko-KR" altLang="en-US" sz="1000" dirty="0"/>
              <a:t> 공원이라고 생각 하였고 우대권 사용자의 조사하여 왜 많이 모이는 것인가?</a:t>
            </a:r>
          </a:p>
          <a:p>
            <a:r>
              <a:rPr lang="ko-KR" altLang="en-US" sz="1000" dirty="0"/>
              <a:t>우대권 승차와 하차 상위 하위 5군대 조사하여 왜 </a:t>
            </a:r>
            <a:r>
              <a:rPr lang="ko-KR" altLang="en-US" sz="1000" dirty="0" err="1"/>
              <a:t>탑골</a:t>
            </a:r>
            <a:r>
              <a:rPr lang="ko-KR" altLang="en-US" sz="1000" dirty="0"/>
              <a:t> 공원에 모이는지 확인하고</a:t>
            </a:r>
          </a:p>
          <a:p>
            <a:r>
              <a:rPr lang="ko-KR" altLang="en-US" sz="1000" dirty="0"/>
              <a:t>지역 구별 우대 사용자의 편의 시설을 조사 하여 모이지 않는 지역구와 </a:t>
            </a:r>
            <a:r>
              <a:rPr lang="ko-KR" altLang="en-US" sz="1000" dirty="0" err="1"/>
              <a:t>탑골공원과</a:t>
            </a:r>
            <a:r>
              <a:rPr lang="ko-KR" altLang="en-US" sz="1000" dirty="0"/>
              <a:t> 비교하여 해당 지역구에 대한 시설 확충 및 여과 놀이 및 불편 사항 조사 개선.</a:t>
            </a:r>
          </a:p>
          <a:p>
            <a:r>
              <a:rPr lang="ko-KR" altLang="en-US" sz="1000" dirty="0"/>
              <a:t>부가적으로 지하철 이용객이 줄어들 것으로 예상 </a:t>
            </a:r>
          </a:p>
          <a:p>
            <a:endParaRPr lang="ko-KR" altLang="en-US" sz="1000" dirty="0"/>
          </a:p>
          <a:p>
            <a:r>
              <a:rPr lang="ko-KR" altLang="en-US" sz="1000" dirty="0"/>
              <a:t>자료</a:t>
            </a:r>
          </a:p>
          <a:p>
            <a:r>
              <a:rPr lang="ko-KR" altLang="en-US" sz="1000" dirty="0"/>
              <a:t>전체 우대권사용자 조사 22 ~ 24</a:t>
            </a:r>
          </a:p>
          <a:p>
            <a:r>
              <a:rPr lang="ko-KR" altLang="en-US" sz="1000" dirty="0"/>
              <a:t>상위 5군대 하위5군대 조사</a:t>
            </a:r>
          </a:p>
          <a:p>
            <a:r>
              <a:rPr lang="ko-KR" altLang="en-US" sz="1000" dirty="0"/>
              <a:t>조사한 10군대 인기가 있고 없고 차이</a:t>
            </a:r>
          </a:p>
          <a:p>
            <a:r>
              <a:rPr lang="ko-KR" altLang="en-US" sz="1000" dirty="0"/>
              <a:t>지역구에 편의 시설(공원, 무료 급식소, 혹은 상권의 가격)</a:t>
            </a:r>
          </a:p>
          <a:p>
            <a:endParaRPr lang="ko-KR" altLang="en-US" sz="1000" dirty="0"/>
          </a:p>
          <a:p>
            <a:r>
              <a:rPr lang="ko-KR" altLang="en-US" sz="1000" dirty="0"/>
              <a:t>작업 결과</a:t>
            </a:r>
          </a:p>
          <a:p>
            <a:r>
              <a:rPr lang="ko-KR" altLang="en-US" sz="1000" dirty="0"/>
              <a:t>우대사용자 지하철 사용자 수가 </a:t>
            </a:r>
            <a:r>
              <a:rPr lang="ko-KR" altLang="en-US" sz="1000" dirty="0" err="1"/>
              <a:t>탑골</a:t>
            </a:r>
            <a:r>
              <a:rPr lang="ko-KR" altLang="en-US" sz="1000" dirty="0"/>
              <a:t> 공원이 아닌 청량리와 제기동역</a:t>
            </a:r>
          </a:p>
          <a:p>
            <a:r>
              <a:rPr lang="ko-KR" altLang="en-US" sz="1000" dirty="0"/>
              <a:t>그 다음이 종로3가 역이다. (</a:t>
            </a:r>
            <a:r>
              <a:rPr lang="ko-KR" altLang="en-US" sz="1000" dirty="0" err="1"/>
              <a:t>탑골공원</a:t>
            </a:r>
            <a:r>
              <a:rPr lang="ko-KR" altLang="en-US" sz="1000" dirty="0"/>
              <a:t>)</a:t>
            </a:r>
          </a:p>
          <a:p>
            <a:r>
              <a:rPr lang="ko-KR" altLang="en-US" sz="1000" dirty="0"/>
              <a:t>청량리와 제기동 사이에 시장이 3군대가 있다.(서울 약령 시장, </a:t>
            </a:r>
            <a:r>
              <a:rPr lang="ko-KR" altLang="en-US" sz="1000" dirty="0" err="1"/>
              <a:t>정량리</a:t>
            </a:r>
            <a:r>
              <a:rPr lang="ko-KR" altLang="en-US" sz="1000" dirty="0"/>
              <a:t> 종합 도매 시장, 경동 시장 청년 몰)</a:t>
            </a:r>
          </a:p>
          <a:p>
            <a:r>
              <a:rPr lang="ko-KR" altLang="en-US" sz="1000" dirty="0"/>
              <a:t>지하철 사고 비율을 조사 하니 사고가 많이 나는 곳은 종로3가 역이며 우대권 사용자 많은 시간대에 대체로 사고가 많이 난다</a:t>
            </a:r>
          </a:p>
          <a:p>
            <a:r>
              <a:rPr lang="ko-KR" altLang="en-US" sz="1000" dirty="0"/>
              <a:t>전체 이용비율은 유의미한 변화는 없고 우대권 사용자의 비용이 많이 사용하는 시간에 10 ~20 % 증가 하였다.</a:t>
            </a:r>
          </a:p>
          <a:p>
            <a:endParaRPr lang="ko-KR" altLang="en-US" sz="1000" dirty="0"/>
          </a:p>
          <a:p>
            <a:endParaRPr lang="ko-KR" altLang="en-US" sz="1000" dirty="0"/>
          </a:p>
          <a:p>
            <a:r>
              <a:rPr lang="ko-KR" altLang="en-US" sz="1000" dirty="0"/>
              <a:t>추가 자료 </a:t>
            </a:r>
          </a:p>
          <a:p>
            <a:r>
              <a:rPr lang="ko-KR" altLang="en-US" sz="1000" dirty="0"/>
              <a:t>두건의 신문사에서 인터뷰는 위에 정리 함</a:t>
            </a:r>
          </a:p>
          <a:p>
            <a:r>
              <a:rPr lang="ko-KR" altLang="en-US" sz="1000" dirty="0"/>
              <a:t>지하철 사고 건수</a:t>
            </a:r>
          </a:p>
          <a:p>
            <a:endParaRPr lang="ko-KR" altLang="en-US" sz="1000" dirty="0"/>
          </a:p>
          <a:p>
            <a:endParaRPr lang="ko-KR" altLang="en-US" sz="1000" dirty="0"/>
          </a:p>
          <a:p>
            <a:r>
              <a:rPr lang="ko-KR" altLang="en-US" sz="1000" dirty="0"/>
              <a:t>---------</a:t>
            </a:r>
          </a:p>
          <a:p>
            <a:r>
              <a:rPr lang="ko-KR" altLang="en-US" sz="1000" dirty="0"/>
              <a:t>전체 사용자와 우대권 사용자의 비율로 </a:t>
            </a:r>
            <a:r>
              <a:rPr lang="ko-KR" altLang="en-US" sz="1000" dirty="0" err="1"/>
              <a:t>보았을때</a:t>
            </a:r>
            <a:r>
              <a:rPr lang="ko-KR" altLang="en-US" sz="1000" dirty="0"/>
              <a:t> 우대권 사용자의 수가 많다.</a:t>
            </a:r>
          </a:p>
          <a:p>
            <a:endParaRPr lang="ko-KR" altLang="en-US" sz="1000" dirty="0"/>
          </a:p>
          <a:p>
            <a:endParaRPr lang="ko-KR" altLang="en-US" sz="1000" dirty="0"/>
          </a:p>
          <a:p>
            <a:r>
              <a:rPr lang="ko-KR" altLang="en-US" sz="1000" dirty="0"/>
              <a:t>-----</a:t>
            </a:r>
            <a:r>
              <a:rPr lang="ko-KR" altLang="en-US" sz="1000" dirty="0" err="1"/>
              <a:t>자료정리중</a:t>
            </a:r>
            <a:endParaRPr lang="ko-KR" altLang="en-US" sz="1000" dirty="0"/>
          </a:p>
          <a:p>
            <a:r>
              <a:rPr lang="ko-KR" altLang="en-US" sz="1000" dirty="0"/>
              <a:t>기본연도 22 ~ 24</a:t>
            </a:r>
          </a:p>
          <a:p>
            <a:r>
              <a:rPr lang="ko-KR" altLang="en-US" sz="1000" dirty="0"/>
              <a:t>승차 인원 추이</a:t>
            </a:r>
          </a:p>
          <a:p>
            <a:r>
              <a:rPr lang="ko-KR" altLang="en-US" sz="1000" dirty="0"/>
              <a:t>연도별 전체 승객 중 65세 이상 비율</a:t>
            </a:r>
          </a:p>
          <a:p>
            <a:r>
              <a:rPr lang="ko-KR" altLang="en-US" sz="1000" dirty="0"/>
              <a:t>서울시 65세 이상 노인 인구 증가 추세(12월 기준)</a:t>
            </a:r>
          </a:p>
          <a:p>
            <a:r>
              <a:rPr lang="ko-KR" altLang="en-US" sz="1000" dirty="0"/>
              <a:t>서울시 65세 이상 인구(세대) 추세</a:t>
            </a:r>
          </a:p>
          <a:p>
            <a:r>
              <a:rPr lang="ko-KR" altLang="en-US" sz="1000" dirty="0"/>
              <a:t>월별 65세 이상 지하철 수요도(승차)</a:t>
            </a:r>
          </a:p>
          <a:p>
            <a:r>
              <a:rPr lang="ko-KR" altLang="en-US" sz="1000" dirty="0"/>
              <a:t>지하철 노인 승차 비율 예측</a:t>
            </a:r>
          </a:p>
          <a:p>
            <a:r>
              <a:rPr lang="ko-KR" altLang="en-US" sz="1000" dirty="0"/>
              <a:t>23년 시간대 별 65세 이상 지하철 이용 추이</a:t>
            </a:r>
          </a:p>
          <a:p>
            <a:endParaRPr lang="ko-KR" altLang="en-US" sz="1000" dirty="0"/>
          </a:p>
          <a:p>
            <a:r>
              <a:rPr lang="ko-KR" altLang="en-US" sz="1000" dirty="0"/>
              <a:t>년도별 월별 </a:t>
            </a:r>
            <a:r>
              <a:rPr lang="ko-KR" altLang="en-US" sz="1000" dirty="0" err="1"/>
              <a:t>승하차</a:t>
            </a:r>
            <a:r>
              <a:rPr lang="ko-KR" altLang="en-US" sz="1000" dirty="0"/>
              <a:t> 구분</a:t>
            </a:r>
          </a:p>
          <a:p>
            <a:r>
              <a:rPr lang="ko-KR" altLang="en-US" sz="1000" dirty="0"/>
              <a:t>각 역의 </a:t>
            </a:r>
            <a:r>
              <a:rPr lang="ko-KR" altLang="en-US" sz="1000" dirty="0" err="1"/>
              <a:t>사고률</a:t>
            </a:r>
            <a:endParaRPr lang="ko-KR" altLang="en-US" sz="1000" dirty="0"/>
          </a:p>
          <a:p>
            <a:r>
              <a:rPr lang="ko-KR" altLang="en-US" sz="1000" dirty="0"/>
              <a:t>우대권 사용자의 비율 증가</a:t>
            </a:r>
          </a:p>
        </p:txBody>
      </p:sp>
    </p:spTree>
    <p:extLst>
      <p:ext uri="{BB962C8B-B14F-4D97-AF65-F5344CB8AC3E}">
        <p14:creationId xmlns:p14="http://schemas.microsoft.com/office/powerpoint/2010/main" val="2428920819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>
          <a:xfrm>
            <a:off x="-145790" y="-198178"/>
            <a:ext cx="12087225" cy="7137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vert="horz" wrap="none" lIns="0" tIns="101568" rIns="0" bIns="101568" anchor="ctr" anchorCtr="0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1. 프로젝트 개요</a:t>
            </a:r>
            <a:endParaRPr kumimoji="0" lang="ko-KR" altLang="ko-KR" sz="1300" b="1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본 프로젝트는 상위 이용 지역의 인구 조사를 통해 전체 우대권 사용자의 비율을 산출하고, 불필요한 이동을 줄여 지역구 활성화 및 이동 분산을 목표로 합니다.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0" lang="en-US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"이동의 총량을 줄이는 것이 아니라, 이동의 필요성을 줄인다."</a:t>
            </a:r>
            <a:endParaRPr kumimoji="0" lang="en-US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승차역(주거지) 솔루션: 역 주변에 노인 특화 공원, 커뮤니티 센터, 헬스케어 존 조성 </a:t>
            </a:r>
            <a:r>
              <a:rPr kumimoji="0" lang="ko-KR" altLang="en-US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 </a:t>
            </a:r>
            <a:r>
              <a:rPr kumimoji="0" lang="en-US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 </a:t>
            </a:r>
            <a:r>
              <a:rPr kumimoji="0" lang="ko-KR" altLang="en-US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	</a:t>
            </a:r>
            <a:r>
              <a:rPr kumimoji="0" lang="en-US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"멀리 안 가셔도 됩니다."</a:t>
            </a:r>
            <a:endParaRPr kumimoji="0" lang="en-US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en-US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하차역(목적지) 솔루션: 안전 설비 보강 및 인파 분산 유도 시스템 </a:t>
            </a:r>
            <a:r>
              <a:rPr kumimoji="0" lang="ko-KR" altLang="en-US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		</a:t>
            </a:r>
            <a:r>
              <a:rPr kumimoji="0" lang="en-US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"오시더라도 안전하게."</a:t>
            </a:r>
            <a:endParaRPr kumimoji="0" lang="en-US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2. 배경 및 필요성 (조사 이유)</a:t>
            </a:r>
            <a:endParaRPr kumimoji="0" lang="ko-KR" altLang="ko-KR" sz="1300" b="1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현황 인식: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우대권 사용자가 특정 지역에 과도하게 집중되는 경향이 관찰되었습니다.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문제 제기: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특정 상위 이용 지역으로의 집중은 불필요한 이동을 야기하며, 상대적으로 타 지역구의 활성화를 저해할 수 있습니다.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조사 목적: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인구 조사를 통해 전체 우대권 사용자 중 상위 이용 지역 방문자 비율을 산출하고, 해당 비율만큼 이동이 분산될 경우의 지역 활성화 효과를 판단하고자 합니다.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3. 목적 및 목표 (예상 결과 포함)</a:t>
            </a:r>
            <a:endParaRPr kumimoji="0" lang="ko-KR" altLang="ko-KR" sz="1300" b="1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궁극적 목적: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우대권 사용자의 편의 증진 및 안전한 이동 환경 조성, 지역 간 균형 발전 도모.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세부 목표:</a:t>
            </a:r>
            <a:endParaRPr kumimoji="0" lang="ko-KR" altLang="ko-KR" sz="1300" b="1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457200" marR="0" lvl="1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이동 패턴 분석: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탑골 공원 등 주요 집결지로의 이동 원인 분석 (승하차 상위/하위 5개 역 비교).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457200" marR="0" lvl="1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시설 비교 및 개선: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집중 지역과 비집중 지역의 편의 시설(공원, 무료 급식소, 상권 가격 등)을 비교 분석하여 시설 확충 및 개선 방안 제시.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457200" marR="0" lvl="1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기대 효과: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지하철 이용객 분산 및 전반적인 지하철 사고 비율 감소 예상.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4. 조사 방법 및 데이터 (자료)</a:t>
            </a:r>
            <a:endParaRPr kumimoji="0" lang="ko-KR" altLang="ko-KR" sz="1300" b="1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데이터 범위: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2022년부터 2024년까지의 전체 우대권 사용자 지하철 이용 데이터.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조사 대상:</a:t>
            </a:r>
            <a:endParaRPr kumimoji="0" lang="ko-KR" altLang="ko-KR" sz="1300" b="1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457200" marR="0" lvl="1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전체 우대권 사용자 수 및 이용 비율.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457200" marR="0" lvl="1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승하차 기준 상위 5개 역 및 하위 5개 역.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457200" marR="0" lvl="1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조사 대상 10개 역 주변 지역구의 편의 시설 현황(공원, 무료 급식소, 상권 가격).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분석 방법: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데이터 기반의 정량적 분석 및 현장 시설에 대한 정성적 비교 분석 병행.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5. 분석 결과 (작업 결과)</a:t>
            </a:r>
            <a:endParaRPr kumimoji="0" lang="ko-KR" altLang="ko-KR" sz="1300" b="1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주요 집결지 변화: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당초 예상과 달리, 우대권 사용자가 가장 많이 이용하는 역은 탑골 공원 인근의 종로3가 역이 아닌 </a:t>
            </a: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청량리역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과 </a:t>
            </a: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제기동역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으로 나타났습니다.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지역 특성: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청량리역과 제기동역 사이에는 서울약령시장, 청량리종합도매시장, 경동시장 청년몰 등 3곳의 대형 시장이 위치해 있었습니다.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안전 문제: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지하철 사고 비율은 </a:t>
            </a: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종로3가역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에서 가장 높게 나타났으며, 사고 발생 시간대는 우대권 사용자가 많은 시간대(오전 10시~오후 2시)와 대체로 일치했습니다.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이용률 추이: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전체 이용 비율의 유의미한 변화는 없었으나, 특정 시간대(주로 낮 시간)에 우대권 사용자의 이용 비용이 10~20% 증가했습니다.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6. 결론 및 제언 (시사점)</a:t>
            </a:r>
            <a:endParaRPr kumimoji="0" lang="ko-KR" altLang="ko-KR" sz="1300" b="1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본 분석 결과는 우대권 사용자의 주된 이동 목적이 '여가'보다는 '시장 이용'과 같은 실질적인 생활 편의에 있음을 시사합니다.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지역 시설 확충 제안: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청량리/제기동 사례를 참고하여, 우대권 사용자 하위 이용 지역구에도 시장, 복지관 등 생활 밀착형 편의 시설을 확충하는 방안을 고려해야 합니다.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안전 관리 강화: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종로3가역과 같이 사고 다발 지역 및 우대권 사용자 집중 시간대에 안전 인력 배치 및 시설 개선이 시급합니다.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defRPr/>
            </a:pPr>
            <a:r>
              <a:rPr kumimoji="0" lang="ko-KR" altLang="ko-KR" sz="1300" b="1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정책 방향:</a:t>
            </a:r>
            <a:r>
              <a:rPr kumimoji="0" lang="ko-KR" altLang="ko-KR" sz="1300" b="0" i="0" u="none" strike="noStrike" cap="none" normalizeH="0" baseline="0">
                <a:solidFill>
                  <a:srgbClr val="0a0a0a"/>
                </a:solidFill>
                <a:effectLst/>
                <a:latin typeface="Arial"/>
                <a:ea typeface="Google Sans"/>
              </a:rPr>
              <a:t> 단순한 이동 분산 정책보다는 사용자의 실제 수요를 반영한 지역 복지 및 편의 시설 개선이 필요합니다.</a:t>
            </a:r>
            <a:endParaRPr kumimoji="0" lang="ko-KR" altLang="ko-KR" sz="1300" b="0" i="0" u="none" strike="noStrike" cap="none" normalizeH="0" baseline="0">
              <a:solidFill>
                <a:srgbClr val="0a0a0a"/>
              </a:solidFill>
              <a:effectLst/>
              <a:latin typeface="Arial"/>
              <a:ea typeface="Google Sans"/>
            </a:endParaRPr>
          </a:p>
          <a:p>
            <a:pPr marL="0" marR="0" lvl="0" indent="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br>
              <a:rPr kumimoji="0" lang="ko-KR" altLang="ko-KR" sz="1300" b="0" i="0" u="none" strike="noStrike" cap="none" normalizeH="0" baseline="0">
                <a:solidFill>
                  <a:schemeClr val="tx1"/>
                </a:solidFill>
                <a:effectLst/>
                <a:latin typeface="Arial"/>
                <a:ea typeface="+mn-ea"/>
                <a:cs typeface="+mn-cs"/>
              </a:rPr>
            </a:br>
            <a:endParaRPr kumimoji="0" lang="ko-KR" altLang="ko-KR" sz="1300" b="0" i="0" u="none" strike="noStrike" cap="none" normalizeH="0" baseline="0">
              <a:solidFill>
                <a:schemeClr val="tx1"/>
              </a:solidFill>
              <a:effectLst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506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3B88-AB48-8B32-5EE3-BD984824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D3E2B2-69EC-53C0-F842-0DD172B4C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" y="54864"/>
            <a:ext cx="9521837" cy="36880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20313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시각화 아이디어 제안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제공된 데이터를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시각화하여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보고서의 가독성을 높이고 핵심 메시지를 명확하게 전달할 수 있습니다.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1. 우대권 사용자 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승하차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상위/하위 5개 역 비교 (막대 차트)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목적: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어느 역에서 사용자가 가장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많은지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한눈에 파악합니다.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데이터: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청량리역, 제기동역, 종로3가역 등 상위 역과 하위 5개 역의 총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승하차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인원수.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시각화: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역별 인원수를 비교하는 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수평 또는 수직 막대 차트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가 적합합니다. 시장 위치 등 관련 정보를 차트 옆에 캡션으로 추가할 수 있습니다.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2. 시간대별 이용 비율 증가 시각화 (선 그래프 또는 영역 차트)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목적: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우대권 사용자가 특정 시간대(예: 10시~14시)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에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집중되는 현상을 보여줍니다.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데이터: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시간대별 전체 이용 비율 대비 우대권 사용자 이용 비율(10~20% 증가) 데이터.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시각화: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하루 24시간을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X축으로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, 이용 비율을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Y축으로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하는 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선 그래프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를 사용하여 피크 시간대를 강조합니다.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3. 역별 사고 비율 및 이용자 수 관계 시각화 (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산점도</a:t>
            </a: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또는 버블 차트)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목적: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이용자 수가 많은 것이 사고 비율 증가와 상관관계가 있는지 분석합니다.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데이터: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종로3가역 사고 비율, 다른 역 사고 비율, 각 역의 우대권 사용자 수.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시각화: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X축에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사용자 수,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Y축에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사고 비율을 두고 각 역을 점으로 표시하는 </a:t>
            </a: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산점도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활용하여 상관관계를 시각적으로 보여줄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33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73FBE-BD34-87DB-5C56-2830AF68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C05C2A-C0CE-6CE2-4720-2D11C7CC3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68" y="-231604"/>
            <a:ext cx="13845137" cy="30520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심층 분석 아이디어 제안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현재 분석 결과를 넘어 프로젝트의 완성도를 높일 수 있는 추가적인 분석 방향입니다.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1. 지역구 편의 시설과 이용률의 상관관계 분석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분석 방향: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현재 결과에서 시장의 유무가 핵심 요인으로 나타났습니다. 이 외에 공원, 무료 급식소, 저렴한 상권 가격 등 다른 편의 시설 요소들이 역 이용률에 미치는 영향을 통계적으로 분석할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필요 데이터: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각 지역구의 편의 시설 류, 개수, 접근성 등에 대한 추가적인 정량화된 데이터.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2. 이동 목적에 따른 사용자 인터뷰 및 설문조사 제안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분석 방향: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왜 청량리나 제기동으로 가는지 실제 사용자의 '이동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목적'을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정성적으로 파악하는 단계입니다.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필요 데이터: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사용자들이 시장 방문 외에 다른 이유(병원 방문, 친구 만남 등)가 있는지 파악하기 위한 설문 데이터.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200" dirty="0">
                <a:solidFill>
                  <a:srgbClr val="0A0A0A"/>
                </a:solidFill>
                <a:ea typeface="Google Sans"/>
              </a:rPr>
              <a:t> -- </a:t>
            </a:r>
            <a:r>
              <a:rPr lang="ko-KR" altLang="en-US" sz="1200" dirty="0">
                <a:solidFill>
                  <a:srgbClr val="0A0A0A"/>
                </a:solidFill>
                <a:ea typeface="Google Sans"/>
              </a:rPr>
              <a:t>해당 자료는 인터넷 인터뷰 활용 예정</a:t>
            </a:r>
            <a:endParaRPr lang="en-US" altLang="ko-KR" sz="1200" dirty="0">
              <a:solidFill>
                <a:srgbClr val="0A0A0A"/>
              </a:solidFill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3. 시설 개선 후 예상되는 이동 분산 효과 모델링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분석 방향: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하위 이용 지역구에 특정 시설(예: 작은 시장이나 복지 센터)을 확충했을 때, 이론적으로 사용자가 얼마나 분산될지 예측 모델을 설계해 볼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D03550-218F-8D77-B637-E0A790BB4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3663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정책 수립과 지하철 이용 횟수 저감 가능성 판단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결론적으로, 위 분석 결과는 정책 수립에 매우 유용하며, 목적에 맞는 정책이 시행된다면 지하철 이용 횟수 저감(또는 분산)이 가능할 것으로 판단됩니다.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정책 수립 가능 여부: 가능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명확한 근거 기반: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회귀 분석을 통해 특정 시설이 사용자 유입의 핵심 동인임을 과학적으로 증명하면, "해당 시설을 타 지역구에 확충해야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한다"는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정책 제안의 타당성이 확보됩니다.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맞춤형 정책: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인터뷰/설문조사를 통해 파악된 사용자의 구체적인 니즈(예: 쉼터 부족, 비싼 물가)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해결하는 맞춤형 정책(예: 공공 쉼터 확충, 지역 상인과 협력하여 가격 할인) 수립이 가능해집니다.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지하철 이용 횟수 저감(분산) 가능 여부: 가능성이 높음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원리: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사용자들이 현재 특정 역으로 이동하는 이유가 해당 지역에만 있는 특정 시설 때문이라면, 그 시설을 사용자가 거주하는 지역 근처나 다른 비인기 지역에 분산 배치함으로써 이동 수요를 분산시킬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기대 효과:</a:t>
            </a:r>
            <a:endParaRPr kumimoji="0" lang="ko-KR" altLang="ko-KR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불필요한 장거리 이동 감소: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사용자가 가까운 곳에서 동일한 편의를 누릴 수 있다면, 굳이 멀리 떨어진 청량리나 제기동까지 지하철을 타고 이동할 필요성이 줄어듭니다.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특정 시간대 혼잡 완화: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 상위 이용 시간대의 혼잡도가 완화되어 종로3가역과 같은 사고 다발 지역의 안전 문제도 간접적으로 개선될 수 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이러한 분석 결과를 바탕으로, "지역 균형 발전과 우대권 사용자의 편의성 및 안전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증진"이라는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" panose="020B0604020202020204" pitchFamily="34" charset="0"/>
                <a:ea typeface="Google Sans"/>
              </a:rPr>
              <a:t> 두 마리 토끼를 잡는 정책 제안 보고서를 완성하실 수 있습니다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09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2BE54-FB68-D634-C682-931439CA9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21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E19FE-7056-130E-6365-894A5D3B0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45964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1039</ep:Words>
  <ep:PresentationFormat>와이드스크린</ep:PresentationFormat>
  <ep:Paragraphs>122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2025-11-26T02:21:20.000</dcterms:created>
  <dc:creator>LemonAde</dc:creator>
  <cp:lastModifiedBy>dbsdm</cp:lastModifiedBy>
  <dcterms:modified xsi:type="dcterms:W3CDTF">2025-11-26T12:04:08.606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